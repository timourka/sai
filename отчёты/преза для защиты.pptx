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61" r:id="rId4"/>
    <p:sldId id="262" r:id="rId5"/>
    <p:sldId id="263" r:id="rId6"/>
    <p:sldId id="260" r:id="rId7"/>
    <p:sldId id="259" r:id="rId8"/>
    <p:sldId id="257" r:id="rId9"/>
    <p:sldId id="258" r:id="rId10"/>
    <p:sldId id="265" r:id="rId11"/>
    <p:sldId id="264" r:id="rId12"/>
    <p:sldId id="266" r:id="rId13"/>
    <p:sldId id="267" r:id="rId14"/>
    <p:sldId id="268" r:id="rId15"/>
    <p:sldId id="270" r:id="rId16"/>
    <p:sldId id="271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БингоТак БингоТак" initials="ББ" lastIdx="1" clrIdx="0">
    <p:extLst>
      <p:ext uri="{19B8F6BF-5375-455C-9EA6-DF929625EA0E}">
        <p15:presenceInfo xmlns:p15="http://schemas.microsoft.com/office/powerpoint/2012/main" userId="ff91e5b505c5d7d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A488322-F2BA-4B5B-9748-0D474271808F}" styleName="Средний стиль 3 — 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8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046CDB-7C7C-4B83-9958-EE650C9E5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44E07C2-C608-4201-835E-DFCEA0402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FC6BD9E-1DE9-47E6-9FC7-B62F9857E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A694191-4728-43D5-A483-63B8528F3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D73E80E-00CC-486F-BFF7-64F69B067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4978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070878-F8E7-479E-B13B-F1E05CDF2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DC136C-22C1-4843-A3A5-FF44C992F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26214B-7141-414D-8280-0A60F7E97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D06F54E-337A-4312-A4AC-E9C82AE39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D0F2DC-3492-43CA-953A-740B886C5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108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6B3AC-0AE7-4BB0-B3E9-170DFB3EA4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8D8F5B7-40A2-49DD-9F8A-49E16072E1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50BEC2-1C1A-4106-A385-33BE80657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8DAAD5-3BAE-457C-9FA0-20867FB49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3D6CA86-63BC-48C6-B16A-3CCDCC582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950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F0D0C6-2567-454C-BB14-F58AF16AD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94D2F7-D027-4AE9-9FF3-273BF1D99D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ED61E18-16F1-4644-9338-82A04671E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589F076-1563-497C-8735-6B7001989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96B9668-BB76-4E7A-95DC-B39BE0127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08EE24-61BB-4C94-8091-224C999E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008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EB6F6C-2461-49E3-B885-3CEACFFD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4ACC6D-B9F5-40FA-A2C5-3F601853DD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B7EC6D1-3761-44AD-AF66-93990AA63F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804EC61-E398-48B3-8587-BE9A57AF4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D6AF9D7-CC43-47B1-A022-7DA53D657D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F696758-A5E9-4EC4-9F68-D0AE13FFF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F2C1558-5239-436F-90A3-F6AA0F456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9926AFF-C43A-41CE-B105-7BBF3EB4E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435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83B487-32D1-4DDD-8FA4-61B7A8763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173E9F0-6EBC-450B-9EC1-04A4D814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2BABFD1-6B4B-451B-87BE-C147680E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47D0EEE-A161-43FF-9F97-B29B1CD01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11943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6DC314-138C-4F24-87C9-790AEF33E2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74BF0AF-3FE5-4F56-9F14-0B7D00D2C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4CA5443-9170-401E-A322-1A3BE5163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766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F16C9-C600-40B9-BA59-8029D44BE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6F837E-D465-433F-8976-A30BDBDC36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B24C16-CA52-4956-8580-AB76519F3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373135B-D395-4A44-A454-D21AA4B1A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B44D03-D958-4BF5-B935-6E1BFDB90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65C6DA1-FA89-4B25-A1DA-F42C315F9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2846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798BA9-0305-45D6-8CA7-3605D25E2E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C3847A0-05EF-4560-82D6-3D905F3F57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B32229A-DEAD-44F5-967A-3C65BE22E8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28EE0B9-6297-42FC-A8E3-269955DDE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BCBEC33-5595-40DF-A487-54F0B604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22D0A14-B9D9-4733-B0D5-CD56E4F6C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307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9A6E8E-6DA3-4C2A-90A2-5F4B1EC1A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5653A80-9834-4B02-A79F-FCA6CA29E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C9DFE6-D8B1-40D8-8C2A-299FBE3C9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A23D31-FEFB-48C1-939C-6CB538FEF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CEDD000-88F3-488D-89F6-C35DA518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81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FD1F2AB8-6F9E-472A-B292-F069FE16E2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3036B3B-00FB-4642-98BD-860E72D5FC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F3DA7F-5E27-4066-965D-43AB37FE9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5C693EA-E490-4DA8-95D0-F55F77658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634DDB9-7315-481C-9D87-21C003CFB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6251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D624E1-53C6-48F8-9D1C-244A304C6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A2167F6-A566-4CA1-A19D-05186A20B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2891FB9-A74C-45C6-AD2F-084B1BBB5C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617DF-F621-4E59-ABC7-09D18EF82DF1}" type="datetimeFigureOut">
              <a:rPr lang="ru-RU" smtClean="0"/>
              <a:t>23.12.2025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BD57AC5-B539-4ABA-AFF1-419C595A33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F4961B-76AA-42F3-88A8-09E2EEA6F8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A1D0F-B45C-4A88-A0C7-4660D63299D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4219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4CFD5-92D3-4C9C-BDAF-64BC4F5AE8B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sz="4000" dirty="0"/>
              <a:t>Новый алгоритм кроссинговера для генетического алгоритма и сравнение с стандартными алгоритмами кроссинговера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0E4F16-D213-4BC1-852D-C87645FCFD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3012" y="4410635"/>
            <a:ext cx="3173506" cy="1546412"/>
          </a:xfrm>
        </p:spPr>
        <p:txBody>
          <a:bodyPr/>
          <a:lstStyle/>
          <a:p>
            <a:pPr algn="r"/>
            <a:r>
              <a:rPr lang="ru-RU" dirty="0"/>
              <a:t>Кувшинов Тимур ПИбд-41</a:t>
            </a:r>
          </a:p>
        </p:txBody>
      </p:sp>
    </p:spTree>
    <p:extLst>
      <p:ext uri="{BB962C8B-B14F-4D97-AF65-F5344CB8AC3E}">
        <p14:creationId xmlns:p14="http://schemas.microsoft.com/office/powerpoint/2010/main" val="390948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B451CF-BFDB-4F02-BC1F-AC037FC14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213688-F7C3-4145-AFC8-CC7FB6EB24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ru-RU" dirty="0"/>
              <a:t>Актуальность работы обусловлена тем, что генетические алгоритмы широко применяются для решения сложных задач оптимизации, а оператор кроссинговера является ключевым механизмом поиска, напрямую влияющим на скорость сходимости, качество найденных решений и устойчивость алгоритма к «застреванию» в локальных минимумах. Разработка нового кроссинговера позволяет потенциально повысить эффективность ГА на практических задачах (улучшить баланс между сохранением удачных фрагментов и разнообразием популяции), а сравнение со стандартными схемами даёт объективную оценку преимуществ и ограничений метода и помогает обосновать, когда его применение действительно оправдано.</a:t>
            </a:r>
          </a:p>
        </p:txBody>
      </p:sp>
    </p:spTree>
    <p:extLst>
      <p:ext uri="{BB962C8B-B14F-4D97-AF65-F5344CB8AC3E}">
        <p14:creationId xmlns:p14="http://schemas.microsoft.com/office/powerpoint/2010/main" val="22397351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7FF0C-94BC-4DB2-8BFD-6CAA8F971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SphereProblem</a:t>
            </a:r>
            <a:r>
              <a:rPr lang="en-US" dirty="0"/>
              <a:t> (</a:t>
            </a:r>
            <a:r>
              <a:rPr lang="ru-RU" dirty="0"/>
              <a:t>сферическая функция)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6F1743-E03B-4C72-B6EE-0E2AAD0688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2317376" cy="129850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nn-NO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nn-NO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nn-NO" i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nn-NO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nn-NO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nn-NO" i="0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nn-NO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Sup>
                            <m:sSubSupPr>
                              <m:ctrlPr>
                                <a:rPr lang="nn-NO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nn-NO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nn-NO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  <m:sup>
                              <m:r>
                                <a:rPr lang="nn-NO" i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AB6F1743-E03B-4C72-B6EE-0E2AAD0688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2317376" cy="12985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8" name="Picture 4">
            <a:extLst>
              <a:ext uri="{FF2B5EF4-FFF2-40B4-BE49-F238E27FC236}">
                <a16:creationId xmlns:a16="http://schemas.microsoft.com/office/drawing/2014/main" id="{7487DEC5-60A7-48A1-A331-AF08344221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984" y="2681755"/>
            <a:ext cx="5335567" cy="381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473B75-9A98-4880-B9D5-C265878E1960}"/>
                  </a:ext>
                </a:extLst>
              </p:cNvPr>
              <p:cNvSpPr txBox="1"/>
              <p:nvPr/>
            </p:nvSpPr>
            <p:spPr>
              <a:xfrm>
                <a:off x="690282" y="3124131"/>
                <a:ext cx="6096000" cy="1492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непрерывная квадратичная функция на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ru-RU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ru-RU" dirty="0"/>
                  <a:t>гладкая, выпуклая и унимодальная; она также аддитивно (</a:t>
                </a:r>
                <a:r>
                  <a:rPr lang="ru-RU" dirty="0" err="1"/>
                  <a:t>координатно</a:t>
                </a:r>
                <a:r>
                  <a:rPr lang="ru-RU" dirty="0"/>
                  <a:t>) сепарабельна, т.к. представляется суммой независимых вкладов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dirty="0"/>
                  <a:t>​. </a:t>
                </a:r>
                <a:r>
                  <a:rPr lang="ru-RU" dirty="0"/>
                  <a:t>Глобальный минимум достигается в точке </a:t>
                </a:r>
                <a14:m>
                  <m:oMath xmlns:m="http://schemas.openxmlformats.org/officeDocument/2006/math">
                    <m:r>
                      <a:rPr lang="ru-RU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(0)=0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1473B75-9A98-4880-B9D5-C265878E1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282" y="3124131"/>
                <a:ext cx="6096000" cy="1492332"/>
              </a:xfrm>
              <a:prstGeom prst="rect">
                <a:avLst/>
              </a:prstGeom>
              <a:blipFill>
                <a:blip r:embed="rId4"/>
                <a:stretch>
                  <a:fillRect l="-800" t="-2041" r="-1500" b="-571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353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D3FAA-7908-4524-AC6C-EAE6E7776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RastriginProblem</a:t>
            </a:r>
            <a:r>
              <a:rPr lang="en-US" dirty="0"/>
              <a:t> (</a:t>
            </a:r>
            <a:r>
              <a:rPr lang="ru-RU" dirty="0"/>
              <a:t>функция </a:t>
            </a:r>
            <a:r>
              <a:rPr lang="ru-RU" dirty="0" err="1"/>
              <a:t>Растригина</a:t>
            </a:r>
            <a:r>
              <a:rPr lang="ru-RU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8D1837E-38D2-4598-9D88-9A4CED718C8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086600" cy="1249269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</a:rPr>
                        <m:t>=10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  <m:sup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func>
                                <m:func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</m:func>
                            </m:e>
                          </m:d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ru-RU" i="1" smtClean="0">
                          <a:latin typeface="Cambria Math" panose="02040503050406030204" pitchFamily="18" charset="0"/>
                        </a:rPr>
                        <m:t>=10</m:t>
                      </m:r>
                    </m:oMath>
                  </m:oMathPara>
                </a14:m>
                <a:endParaRPr lang="ru-RU" dirty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28D1837E-38D2-4598-9D88-9A4CED718C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086600" cy="124926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C0E87B-550A-4AF7-ACE2-950DE1B5D97E}"/>
                  </a:ext>
                </a:extLst>
              </p:cNvPr>
              <p:cNvSpPr txBox="1"/>
              <p:nvPr/>
            </p:nvSpPr>
            <p:spPr>
              <a:xfrm>
                <a:off x="735106" y="3123834"/>
                <a:ext cx="5611906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Это невыпуклая, периодически “ребристая” (из-за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ru-RU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⁡</m:t>
                    </m:r>
                  </m:oMath>
                </a14:m>
                <a:r>
                  <a:rPr lang="ru-RU" dirty="0"/>
                  <a:t>⁡) мультимодальная функция с большим числом локальных минимумов; Глобальный минимум находится в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:r>
                  <a:rPr lang="ru-RU" dirty="0"/>
                  <a:t>и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(0)=0</m:t>
                    </m:r>
                  </m:oMath>
                </a14:m>
                <a:r>
                  <a:rPr lang="en-US" dirty="0"/>
                  <a:t>.</a:t>
                </a:r>
                <a:endParaRPr lang="ru-RU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0C0E87B-550A-4AF7-ACE2-950DE1B5D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106" y="3123834"/>
                <a:ext cx="5611906" cy="1200329"/>
              </a:xfrm>
              <a:prstGeom prst="rect">
                <a:avLst/>
              </a:prstGeom>
              <a:blipFill>
                <a:blip r:embed="rId3"/>
                <a:stretch>
                  <a:fillRect l="-978" t="-2538" r="-1522" b="-71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Минимизируйте функцию Растригина">
            <a:extLst>
              <a:ext uri="{FF2B5EF4-FFF2-40B4-BE49-F238E27FC236}">
                <a16:creationId xmlns:a16="http://schemas.microsoft.com/office/drawing/2014/main" id="{D56A73D4-3C5D-4B8B-8EFB-4FDB561F7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3836" y="3074894"/>
            <a:ext cx="4446494" cy="3484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4275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8B29F-5FE1-44C6-BC43-8DB3B53D9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Rosenbrock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6F3160-6631-4948-96BD-4977E2F9BB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758156"/>
                <a:ext cx="6620435" cy="1325563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d>
                            <m:dPr>
                              <m:ctrlPr>
                                <a:rPr lang="ru-RU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100</m:t>
                              </m:r>
                              <m:sSup>
                                <m:sSup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+1</m:t>
                                          </m:r>
                                        </m:sub>
                                      </m:sSub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 smtClean="0">
                                          <a:latin typeface="Cambria Math" panose="02040503050406030204" pitchFamily="18" charset="0"/>
                                        </a:rPr>
                                        <m:t>1−</m:t>
                                      </m:r>
                                      <m:sSub>
                                        <m:sSubPr>
                                          <m:ctrlP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ru-RU" i="1" smtClean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ru-RU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B46F3160-6631-4948-96BD-4977E2F9BB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758156"/>
                <a:ext cx="6620435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4" name="Picture 4" descr="Rosenbrock — pagmo 2.19.1 documentation">
            <a:extLst>
              <a:ext uri="{FF2B5EF4-FFF2-40B4-BE49-F238E27FC236}">
                <a16:creationId xmlns:a16="http://schemas.microsoft.com/office/drawing/2014/main" id="{04321419-1BA0-4C92-9837-590B9FFC9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503" y="3542134"/>
            <a:ext cx="3840255" cy="288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A14187-7035-4944-B05E-70F71733DDC6}"/>
                  </a:ext>
                </a:extLst>
              </p:cNvPr>
              <p:cNvSpPr txBox="1"/>
              <p:nvPr/>
            </p:nvSpPr>
            <p:spPr>
              <a:xfrm>
                <a:off x="764242" y="3083719"/>
                <a:ext cx="7005918" cy="1567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dirty="0"/>
                  <a:t>Это невыпуклая функция, известная как “долина/банан” </a:t>
                </a:r>
                <a:r>
                  <a:rPr lang="ru-RU" dirty="0" err="1"/>
                  <a:t>Розенброка</a:t>
                </a:r>
                <a:r>
                  <a:rPr lang="ru-RU" dirty="0"/>
                  <a:t>: глобальный минимум лежит внутри длинной узкой параболической долины; в многомерной форме переменные связаны между собой (</a:t>
                </a:r>
                <a:r>
                  <a:rPr lang="ru-RU" dirty="0" err="1"/>
                  <a:t>несепарабельна</a:t>
                </a:r>
                <a:r>
                  <a:rPr lang="ru-RU" dirty="0"/>
                  <a:t>) через члены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ru-RU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Sup>
                              <m:sSubSupPr>
                                <m:ctrlP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ru-RU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e>
                        </m:d>
                      </m:e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dirty="0"/>
                  <a:t>. Глобальный минимум достигается при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ru-RU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1,1,…,1</m:t>
                        </m:r>
                      </m:e>
                    </m:d>
                    <m:r>
                      <a:rPr lang="ru-RU" b="0" i="0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ru-RU" dirty="0"/>
                  <a:t>где </a:t>
                </a:r>
                <a14:m>
                  <m:oMath xmlns:m="http://schemas.openxmlformats.org/officeDocument/2006/math">
                    <m:r>
                      <a:rPr lang="ru-RU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 dirty="0" smtClean="0"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1A14187-7035-4944-B05E-70F71733DD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242" y="3083719"/>
                <a:ext cx="7005918" cy="1567673"/>
              </a:xfrm>
              <a:prstGeom prst="rect">
                <a:avLst/>
              </a:prstGeom>
              <a:blipFill>
                <a:blip r:embed="rId4"/>
                <a:stretch>
                  <a:fillRect l="-696" t="-2335" r="-696" b="-544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9545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3EA6C-5E4C-471A-9AA6-397E985E0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DF5641-27F9-42E4-9542-3F35FAB74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074" name="Picture 2" descr="Пнг Стонкс 11 фото">
            <a:extLst>
              <a:ext uri="{FF2B5EF4-FFF2-40B4-BE49-F238E27FC236}">
                <a16:creationId xmlns:a16="http://schemas.microsoft.com/office/drawing/2014/main" id="{827BBB60-FB31-4EF1-AF57-343C98D88E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1593476" y="325570"/>
            <a:ext cx="9005047" cy="620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110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3F44F7-1088-4212-9547-5434AB14D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Параметры тестов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977E47-FD6B-41AA-8945-BD588541A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dirty="0"/>
              <a:t>Размер популяции: 100</a:t>
            </a:r>
          </a:p>
          <a:p>
            <a:pPr marL="0" indent="0">
              <a:buNone/>
            </a:pPr>
            <a:r>
              <a:rPr lang="ru-RU" dirty="0"/>
              <a:t>Вероятность скрещивания (кроссовера): 0,5</a:t>
            </a:r>
          </a:p>
          <a:p>
            <a:pPr marL="0" indent="0">
              <a:buNone/>
            </a:pPr>
            <a:r>
              <a:rPr lang="ru-RU" dirty="0"/>
              <a:t>Вероятность мутации: 0,1</a:t>
            </a:r>
          </a:p>
          <a:p>
            <a:pPr marL="0" indent="0">
              <a:buNone/>
            </a:pPr>
            <a:r>
              <a:rPr lang="ru-RU" dirty="0"/>
              <a:t>Максимальное число поколений: 100</a:t>
            </a:r>
          </a:p>
          <a:p>
            <a:pPr marL="0" indent="0">
              <a:buNone/>
            </a:pPr>
            <a:r>
              <a:rPr lang="ru-RU" dirty="0"/>
              <a:t>Зерно (начальное значение) генератора случайных чисел: 42</a:t>
            </a:r>
          </a:p>
          <a:p>
            <a:pPr marL="0" indent="0">
              <a:buNone/>
            </a:pPr>
            <a:r>
              <a:rPr lang="ru-RU" dirty="0"/>
              <a:t>Количество переменных в задачах: 10</a:t>
            </a:r>
          </a:p>
          <a:p>
            <a:pPr marL="0" indent="0">
              <a:buNone/>
            </a:pPr>
            <a:r>
              <a:rPr lang="ru-RU" dirty="0"/>
              <a:t>Алгоритм отбора: Турнирная селекция</a:t>
            </a:r>
          </a:p>
          <a:p>
            <a:pPr marL="0" indent="0">
              <a:buNone/>
            </a:pPr>
            <a:r>
              <a:rPr lang="ru-RU" dirty="0"/>
              <a:t>Алгоритм мутации: Простая гауссовская мутация</a:t>
            </a:r>
          </a:p>
          <a:p>
            <a:pPr marL="0" indent="0">
              <a:buNone/>
            </a:pPr>
            <a:r>
              <a:rPr lang="ru-RU" dirty="0"/>
              <a:t>Количество повтора эксперимента: 10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4548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E76DC83-75A2-425E-8300-835B88F10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6262" y="726140"/>
            <a:ext cx="3419475" cy="599850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8924011-2657-44DB-8866-48BBBD3DE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8397" y="726140"/>
            <a:ext cx="4303042" cy="325614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AA116ED-864D-488F-891C-6233B2576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30" y="726140"/>
            <a:ext cx="4492843" cy="3065931"/>
          </a:xfrm>
          <a:prstGeom prst="rect">
            <a:avLst/>
          </a:prstGeom>
        </p:spPr>
      </p:pic>
      <p:sp>
        <p:nvSpPr>
          <p:cNvPr id="10" name="Заголовок 9">
            <a:extLst>
              <a:ext uri="{FF2B5EF4-FFF2-40B4-BE49-F238E27FC236}">
                <a16:creationId xmlns:a16="http://schemas.microsoft.com/office/drawing/2014/main" id="{2413FA13-92AC-4781-AA4D-E8AAD62E1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7356" y="1"/>
            <a:ext cx="10356103" cy="726140"/>
          </a:xfrm>
        </p:spPr>
        <p:txBody>
          <a:bodyPr>
            <a:normAutofit/>
          </a:bodyPr>
          <a:lstStyle/>
          <a:p>
            <a:r>
              <a:rPr lang="ru-RU" sz="4000" dirty="0"/>
              <a:t>Стандартные функции кроссинговера</a:t>
            </a:r>
          </a:p>
        </p:txBody>
      </p:sp>
    </p:spTree>
    <p:extLst>
      <p:ext uri="{BB962C8B-B14F-4D97-AF65-F5344CB8AC3E}">
        <p14:creationId xmlns:p14="http://schemas.microsoft.com/office/powerpoint/2010/main" val="724709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B270B780-71CC-47CF-B5BA-80D4EE0E66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41869"/>
              </p:ext>
            </p:extLst>
          </p:nvPr>
        </p:nvGraphicFramePr>
        <p:xfrm>
          <a:off x="573742" y="1232656"/>
          <a:ext cx="10515600" cy="17526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543347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854636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534833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8503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pts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pts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Rosen pts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dirty="0">
                          <a:effectLst/>
                        </a:rPr>
                        <a:t>Σ </a:t>
                      </a:r>
                      <a:r>
                        <a:rPr lang="en-US" dirty="0">
                          <a:effectLst/>
                        </a:rPr>
                        <a:t>pts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one_point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0.032432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4.100491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7.732194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6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uniform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0.034437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3.445652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7.910177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558296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two_point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0.029160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4.074262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9.776298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6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23622396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6D02751-D627-451E-842E-17668D4E7FD3}"/>
              </a:ext>
            </a:extLst>
          </p:cNvPr>
          <p:cNvSpPr txBox="1"/>
          <p:nvPr/>
        </p:nvSpPr>
        <p:spPr>
          <a:xfrm>
            <a:off x="573742" y="295835"/>
            <a:ext cx="88688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/>
              <a:t>Результаты стандартных </a:t>
            </a:r>
            <a:r>
              <a:rPr lang="ru-RU" sz="4000" dirty="0" err="1"/>
              <a:t>кросинговеров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676255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74C33-F58F-4AAC-835C-32544729E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315635" cy="1862613"/>
          </a:xfrm>
        </p:spPr>
        <p:txBody>
          <a:bodyPr>
            <a:normAutofit/>
          </a:bodyPr>
          <a:lstStyle/>
          <a:p>
            <a:r>
              <a:rPr lang="ru-RU" sz="4000" dirty="0"/>
              <a:t>мягкий направленный оператор кроссинговера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7B91344-6ECC-43B1-A126-76055D58A9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9032086"/>
              </p:ext>
            </p:extLst>
          </p:nvPr>
        </p:nvGraphicFramePr>
        <p:xfrm>
          <a:off x="842682" y="2227738"/>
          <a:ext cx="5257800" cy="128778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newHeuristic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0.002920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17.839791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8.376122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6C7CC31-B021-4EFE-A8FA-1A510B4FB5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1592" y="156652"/>
            <a:ext cx="2665725" cy="6544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923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02A122B3-DD99-4C8D-9C4C-330FFE7E4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90129" cy="1869185"/>
          </a:xfrm>
        </p:spPr>
        <p:txBody>
          <a:bodyPr>
            <a:noAutofit/>
          </a:bodyPr>
          <a:lstStyle/>
          <a:p>
            <a:r>
              <a:rPr lang="ru-RU" sz="4000" dirty="0"/>
              <a:t>Частичный </a:t>
            </a:r>
            <a:r>
              <a:rPr lang="ru-RU" sz="4000" dirty="0" err="1"/>
              <a:t>Shuffle</a:t>
            </a:r>
            <a:r>
              <a:rPr lang="ru-RU" sz="4000" dirty="0"/>
              <a:t> </a:t>
            </a:r>
            <a:r>
              <a:rPr lang="ru-RU" sz="4000" dirty="0" err="1"/>
              <a:t>Crossover</a:t>
            </a:r>
            <a:r>
              <a:rPr lang="ru-RU" sz="4000" dirty="0"/>
              <a:t> с порогом различий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19085D4F-3C97-4F61-BE3F-9A8A37970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688218"/>
              </p:ext>
            </p:extLst>
          </p:nvPr>
        </p:nvGraphicFramePr>
        <p:xfrm>
          <a:off x="838200" y="2234311"/>
          <a:ext cx="5257800" cy="128778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newShuffleSelective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0.040172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2.316563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7.927263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CE7BF70-0C44-4B49-BCBF-D7267BCB9B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011" y="337165"/>
            <a:ext cx="3803423" cy="6183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457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B5771637-98BC-48F7-91D0-F1C152132D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23873"/>
              </p:ext>
            </p:extLst>
          </p:nvPr>
        </p:nvGraphicFramePr>
        <p:xfrm>
          <a:off x="842682" y="2227738"/>
          <a:ext cx="5257800" cy="15621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newRandomFixedShuffle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0.021207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0.900248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9.051854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270C3C8-9876-46FF-90D4-A39C7C2A7F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3399"/>
          <a:stretch/>
        </p:blipFill>
        <p:spPr>
          <a:xfrm>
            <a:off x="6340176" y="0"/>
            <a:ext cx="3619612" cy="5939068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571B00B-C43C-44E1-B907-A2A887994E0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09" t="56601" r="11158"/>
          <a:stretch/>
        </p:blipFill>
        <p:spPr>
          <a:xfrm>
            <a:off x="9439835" y="2359889"/>
            <a:ext cx="2713715" cy="4466734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6FCBEC-2EEF-4DD8-A9D9-1CA2E515B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163236" cy="1714687"/>
          </a:xfrm>
        </p:spPr>
        <p:txBody>
          <a:bodyPr>
            <a:normAutofit/>
          </a:bodyPr>
          <a:lstStyle/>
          <a:p>
            <a:r>
              <a:rPr lang="ru-RU" sz="3600" dirty="0"/>
              <a:t>Частичный </a:t>
            </a:r>
            <a:r>
              <a:rPr lang="ru-RU" sz="3600" dirty="0" err="1"/>
              <a:t>Shuffle</a:t>
            </a:r>
            <a:r>
              <a:rPr lang="ru-RU" sz="3600" dirty="0"/>
              <a:t> </a:t>
            </a:r>
            <a:r>
              <a:rPr lang="ru-RU" sz="3600" dirty="0" err="1"/>
              <a:t>Crossover</a:t>
            </a:r>
            <a:r>
              <a:rPr lang="ru-RU" sz="3600" dirty="0"/>
              <a:t> с </a:t>
            </a:r>
            <a:r>
              <a:rPr lang="ru-RU" sz="3600" dirty="0" err="1"/>
              <a:t>рандомным</a:t>
            </a:r>
            <a:r>
              <a:rPr lang="ru-RU" sz="3600" dirty="0"/>
              <a:t> </a:t>
            </a:r>
            <a:r>
              <a:rPr lang="ru-RU" sz="3600" dirty="0" err="1"/>
              <a:t>определнием</a:t>
            </a:r>
            <a:r>
              <a:rPr lang="ru-RU" sz="3600" dirty="0"/>
              <a:t> к категории FIXED или SHUFFLED</a:t>
            </a:r>
          </a:p>
        </p:txBody>
      </p:sp>
    </p:spTree>
    <p:extLst>
      <p:ext uri="{BB962C8B-B14F-4D97-AF65-F5344CB8AC3E}">
        <p14:creationId xmlns:p14="http://schemas.microsoft.com/office/powerpoint/2010/main" val="3713945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6FD3A6-3ACB-454F-B1FC-3A2870B4F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652247" cy="620993"/>
          </a:xfrm>
        </p:spPr>
        <p:txBody>
          <a:bodyPr>
            <a:normAutofit fontScale="90000"/>
          </a:bodyPr>
          <a:lstStyle/>
          <a:p>
            <a:r>
              <a:rPr lang="en-US"/>
              <a:t>Smart Shuffle Crossover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4180D22-D3C5-49F7-9A33-DAF8C7C3D8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4392459"/>
              </p:ext>
            </p:extLst>
          </p:nvPr>
        </p:nvGraphicFramePr>
        <p:xfrm>
          <a:off x="842682" y="2227738"/>
          <a:ext cx="5257800" cy="128778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newSmartShuffle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0.020420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2.595369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7.559434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54B88D7-EB1D-4F34-91F0-6432FE9247EA}"/>
              </a:ext>
            </a:extLst>
          </p:cNvPr>
          <p:cNvSpPr txBox="1"/>
          <p:nvPr/>
        </p:nvSpPr>
        <p:spPr>
          <a:xfrm>
            <a:off x="838200" y="1145263"/>
            <a:ext cx="60556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сохраняет гены, близкие между родителями (структура)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шифлит</a:t>
            </a:r>
            <a:r>
              <a:rPr lang="ru-RU" dirty="0"/>
              <a:t> только сильно различающиеся гены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bias</a:t>
            </a:r>
            <a:r>
              <a:rPr lang="ru-RU" dirty="0"/>
              <a:t> в сторону лучшего родителя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AD2F35C-1ED8-44B0-9C7A-2EF8B39FF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0547" y="0"/>
            <a:ext cx="44330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7512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9C754-90E8-4851-BAB3-BFFA4BC78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788513"/>
          </a:xfrm>
        </p:spPr>
        <p:txBody>
          <a:bodyPr/>
          <a:lstStyle/>
          <a:p>
            <a:r>
              <a:rPr lang="en-US" dirty="0"/>
              <a:t>Shuffle Crossover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19AAE0A5-CC62-45EC-A78C-1FC13C59A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50648"/>
              </p:ext>
            </p:extLst>
          </p:nvPr>
        </p:nvGraphicFramePr>
        <p:xfrm>
          <a:off x="842682" y="2227738"/>
          <a:ext cx="5257800" cy="10134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newShuffle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0.010805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0.507912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9.121986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61A84FF-C370-46C3-A3D7-696C99E07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1129" y="807934"/>
            <a:ext cx="5040967" cy="52421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C98BB89-74E0-4385-BBB5-DAE96C376EB3}"/>
              </a:ext>
            </a:extLst>
          </p:cNvPr>
          <p:cNvSpPr txBox="1"/>
          <p:nvPr/>
        </p:nvSpPr>
        <p:spPr>
          <a:xfrm>
            <a:off x="838200" y="11388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объединяет гены обоих родителей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случайно перемешивает их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делит поровну на двух потомков</a:t>
            </a:r>
          </a:p>
        </p:txBody>
      </p:sp>
    </p:spTree>
    <p:extLst>
      <p:ext uri="{BB962C8B-B14F-4D97-AF65-F5344CB8AC3E}">
        <p14:creationId xmlns:p14="http://schemas.microsoft.com/office/powerpoint/2010/main" val="1804241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164F20-5318-4F59-B4C4-BFB29D5ED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557682" cy="486522"/>
          </a:xfrm>
        </p:spPr>
        <p:txBody>
          <a:bodyPr>
            <a:normAutofit fontScale="90000"/>
          </a:bodyPr>
          <a:lstStyle/>
          <a:p>
            <a:r>
              <a:rPr lang="en-US" dirty="0"/>
              <a:t>Adaptive Uniform Crossover</a:t>
            </a:r>
            <a:endParaRPr lang="ru-RU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713F4525-2B57-43D7-956E-83CD26193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0454446"/>
              </p:ext>
            </p:extLst>
          </p:nvPr>
        </p:nvGraphicFramePr>
        <p:xfrm>
          <a:off x="842682" y="2227738"/>
          <a:ext cx="5257800" cy="128778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newUniform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0.018190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2.590279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6.820470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C2C0C1E-9B06-4601-94A1-87E7E4E6FFFB}"/>
              </a:ext>
            </a:extLst>
          </p:cNvPr>
          <p:cNvSpPr txBox="1"/>
          <p:nvPr/>
        </p:nvSpPr>
        <p:spPr>
          <a:xfrm>
            <a:off x="838200" y="1078028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Каждый ген выбирается как у </a:t>
            </a:r>
            <a:r>
              <a:rPr lang="ru-RU" dirty="0" err="1"/>
              <a:t>Uniform</a:t>
            </a:r>
            <a:r>
              <a:rPr lang="ru-RU" dirty="0"/>
              <a:t> </a:t>
            </a:r>
            <a:r>
              <a:rPr lang="ru-RU" dirty="0" err="1"/>
              <a:t>crossover</a:t>
            </a:r>
            <a:r>
              <a:rPr lang="ru-RU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Но: если один из родителей лучше, то вероятность взять его ген чуть выше.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31E796B-2E54-46DF-813C-93787697B4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3567" y="0"/>
            <a:ext cx="33629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275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EAEBDF-3A3A-4840-ADBF-B422C92B8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225988" cy="513416"/>
          </a:xfrm>
        </p:spPr>
        <p:txBody>
          <a:bodyPr>
            <a:normAutofit fontScale="90000"/>
          </a:bodyPr>
          <a:lstStyle/>
          <a:p>
            <a:r>
              <a:rPr lang="en-US" dirty="0"/>
              <a:t>Adaptive Shuffle Crossover</a:t>
            </a:r>
            <a:endParaRPr lang="ru-RU" dirty="0"/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CDE51D3B-5965-49D8-871D-BFBA379129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9452663"/>
              </p:ext>
            </p:extLst>
          </p:nvPr>
        </p:nvGraphicFramePr>
        <p:xfrm>
          <a:off x="842682" y="2227738"/>
          <a:ext cx="5257800" cy="128778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newAdaptiveShuffle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>
                          <a:effectLst/>
                        </a:rPr>
                        <a:t>0.012700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2.564100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dirty="0">
                          <a:effectLst/>
                        </a:rPr>
                        <a:t>7.398798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C9E9E00-9E97-4D27-B2CC-315FFEF047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4188" y="0"/>
            <a:ext cx="3768345" cy="6858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588AE4-6BDB-4010-90F9-27846473D449}"/>
              </a:ext>
            </a:extLst>
          </p:cNvPr>
          <p:cNvSpPr txBox="1"/>
          <p:nvPr/>
        </p:nvSpPr>
        <p:spPr>
          <a:xfrm>
            <a:off x="838200" y="932331"/>
            <a:ext cx="62259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родители похожи -&gt; мягкое смешивание (</a:t>
            </a:r>
            <a:r>
              <a:rPr lang="ru-RU" dirty="0" err="1"/>
              <a:t>uniform</a:t>
            </a:r>
            <a:r>
              <a:rPr lang="ru-RU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если сильно различаются -&gt; частичное случайное перемешивание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504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C2773F-0DEA-49F5-BDFE-14FD02919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768788" cy="638922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Читерский</a:t>
            </a:r>
            <a:r>
              <a:rPr lang="ru-RU" dirty="0"/>
              <a:t> кроссинговер</a:t>
            </a:r>
          </a:p>
        </p:txBody>
      </p:sp>
      <p:graphicFrame>
        <p:nvGraphicFramePr>
          <p:cNvPr id="3" name="Таблица 2">
            <a:extLst>
              <a:ext uri="{FF2B5EF4-FFF2-40B4-BE49-F238E27FC236}">
                <a16:creationId xmlns:a16="http://schemas.microsoft.com/office/drawing/2014/main" id="{9C448C1B-BFB7-4561-87F9-20B48708BA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805095"/>
              </p:ext>
            </p:extLst>
          </p:nvPr>
        </p:nvGraphicFramePr>
        <p:xfrm>
          <a:off x="838200" y="3319926"/>
          <a:ext cx="5257800" cy="156210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Rastrigin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 err="1">
                          <a:effectLst/>
                        </a:rPr>
                        <a:t>Rosenbrock</a:t>
                      </a:r>
                      <a:r>
                        <a:rPr lang="en-US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>
                          <a:effectLst/>
                        </a:rPr>
                        <a:t>newGoodGenePreservingShuffle</a:t>
                      </a:r>
                      <a:endParaRPr lang="en-US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0" dirty="0">
                          <a:effectLst/>
                        </a:rPr>
                        <a:t>0.002461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0" dirty="0">
                          <a:effectLst/>
                        </a:rPr>
                        <a:t>0.414954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b="0" dirty="0">
                          <a:effectLst/>
                        </a:rPr>
                        <a:t>5.747912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AA049EF-B3ED-4ED2-B678-BEB9BCC72080}"/>
              </a:ext>
            </a:extLst>
          </p:cNvPr>
          <p:cNvSpPr txBox="1"/>
          <p:nvPr/>
        </p:nvSpPr>
        <p:spPr>
          <a:xfrm>
            <a:off x="838200" y="1004048"/>
            <a:ext cx="60960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Находим гены, которые заметно различаются (</a:t>
            </a:r>
            <a:r>
              <a:rPr lang="ru-RU" sz="1600" dirty="0" err="1"/>
              <a:t>diff_threshold</a:t>
            </a:r>
            <a:r>
              <a:rPr lang="ru-RU" sz="16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Для каждого гена: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временно заменяем на значение худшего родителя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вычисляем </a:t>
            </a:r>
            <a:r>
              <a:rPr lang="ru-RU" sz="1600" dirty="0" err="1"/>
              <a:t>fitness</a:t>
            </a:r>
            <a:endParaRPr lang="ru-RU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если </a:t>
            </a:r>
            <a:r>
              <a:rPr lang="ru-RU" sz="1600" dirty="0" err="1"/>
              <a:t>fitness</a:t>
            </a:r>
            <a:r>
              <a:rPr lang="ru-RU" sz="1600" dirty="0"/>
              <a:t> ухудшается -&gt; ген важный (сохраняем)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sz="1600" dirty="0"/>
              <a:t>иначе -&gt; ген в </a:t>
            </a:r>
            <a:r>
              <a:rPr lang="ru-RU" sz="1600" dirty="0" err="1"/>
              <a:t>shuffle</a:t>
            </a:r>
            <a:r>
              <a:rPr lang="ru-RU" sz="1600" dirty="0"/>
              <a:t>-пул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Важные гены копируются от лучшего родителя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Остальные различающиеся гены </a:t>
            </a:r>
            <a:r>
              <a:rPr lang="ru-RU" sz="1600" dirty="0" err="1"/>
              <a:t>шафлим</a:t>
            </a:r>
            <a:endParaRPr lang="ru-RU" sz="16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60E4577-0EAF-45C6-AFD0-CD4730CC51E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12"/>
          <a:stretch/>
        </p:blipFill>
        <p:spPr>
          <a:xfrm>
            <a:off x="6785036" y="1"/>
            <a:ext cx="3497482" cy="6858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EBD211A-D84F-4B2F-B083-D53C7951EC1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56" t="61307" r="12219"/>
          <a:stretch/>
        </p:blipFill>
        <p:spPr>
          <a:xfrm>
            <a:off x="9828592" y="3164542"/>
            <a:ext cx="2178386" cy="361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7810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777CF4-80D4-4722-B149-76BE6292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29957"/>
          </a:xfrm>
        </p:spPr>
        <p:txBody>
          <a:bodyPr>
            <a:normAutofit fontScale="90000"/>
          </a:bodyPr>
          <a:lstStyle/>
          <a:p>
            <a:r>
              <a:rPr lang="ru-RU" dirty="0"/>
              <a:t>Итоговая таблица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5FEC16F-E71B-4DAE-B215-EC3DC69E43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1730941"/>
              </p:ext>
            </p:extLst>
          </p:nvPr>
        </p:nvGraphicFramePr>
        <p:xfrm>
          <a:off x="838200" y="995082"/>
          <a:ext cx="10515600" cy="5775960"/>
        </p:xfrm>
        <a:graphic>
          <a:graphicData uri="http://schemas.openxmlformats.org/drawingml/2006/table">
            <a:tbl>
              <a:tblPr>
                <a:tableStyleId>{3B4B98B0-60AC-42C2-AFA5-B58CD77FA1E5}</a:tableStyleId>
              </a:tblPr>
              <a:tblGrid>
                <a:gridCol w="1314450">
                  <a:extLst>
                    <a:ext uri="{9D8B030D-6E8A-4147-A177-3AD203B41FA5}">
                      <a16:colId xmlns:a16="http://schemas.microsoft.com/office/drawing/2014/main" val="503526652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604555213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95433474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36767536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385463654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1880647799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4053483305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32850353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ru-RU" sz="1600" dirty="0">
                          <a:effectLst/>
                        </a:rPr>
                        <a:t>Оператор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effectLst/>
                        </a:rPr>
                        <a:t>Sphere mean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effectLst/>
                        </a:rPr>
                        <a:t>Sphere pts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effectLst/>
                        </a:rPr>
                        <a:t>Rastrigin</a:t>
                      </a:r>
                      <a:r>
                        <a:rPr lang="en-US" sz="1600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effectLst/>
                        </a:rPr>
                        <a:t>Rastrigin</a:t>
                      </a:r>
                      <a:r>
                        <a:rPr lang="en-US" sz="1600" dirty="0">
                          <a:effectLst/>
                        </a:rPr>
                        <a:t> pts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 err="1">
                          <a:effectLst/>
                        </a:rPr>
                        <a:t>Rosenbrock</a:t>
                      </a:r>
                      <a:r>
                        <a:rPr lang="en-US" sz="1600" dirty="0">
                          <a:effectLst/>
                        </a:rPr>
                        <a:t> mean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600" dirty="0">
                          <a:effectLst/>
                        </a:rPr>
                        <a:t>Rosen pts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l-GR" sz="1600" dirty="0">
                          <a:effectLst/>
                        </a:rPr>
                        <a:t>Σ </a:t>
                      </a:r>
                      <a:r>
                        <a:rPr lang="en-US" sz="1600" dirty="0">
                          <a:effectLst/>
                        </a:rPr>
                        <a:t>pts</a:t>
                      </a:r>
                    </a:p>
                  </a:txBody>
                  <a:tcPr marL="95250" marR="95250" marT="47625" marB="47625"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6725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 dirty="0" err="1">
                          <a:effectLst/>
                        </a:rPr>
                        <a:t>newGoodGenePreservingShuffle</a:t>
                      </a:r>
                      <a:endParaRPr lang="en-US" sz="1600" dirty="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>
                          <a:effectLst/>
                        </a:rPr>
                        <a:t>0.002461</a:t>
                      </a:r>
                      <a:endParaRPr lang="ru-RU" sz="160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>
                          <a:effectLst/>
                        </a:rPr>
                        <a:t>10</a:t>
                      </a:r>
                      <a:endParaRPr lang="ru-RU" sz="160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>
                          <a:effectLst/>
                        </a:rPr>
                        <a:t>0.414954</a:t>
                      </a:r>
                      <a:endParaRPr lang="ru-RU" sz="160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>
                          <a:effectLst/>
                        </a:rPr>
                        <a:t>10</a:t>
                      </a:r>
                      <a:endParaRPr lang="ru-RU" sz="160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>
                          <a:effectLst/>
                        </a:rPr>
                        <a:t>5.747912</a:t>
                      </a:r>
                      <a:endParaRPr lang="ru-RU" sz="160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>
                          <a:effectLst/>
                        </a:rPr>
                        <a:t>10</a:t>
                      </a:r>
                      <a:endParaRPr lang="ru-RU" sz="160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b="1">
                          <a:effectLst/>
                        </a:rPr>
                        <a:t>30</a:t>
                      </a:r>
                      <a:endParaRPr lang="ru-RU" sz="1600">
                        <a:effectLst/>
                      </a:endParaRPr>
                    </a:p>
                  </a:txBody>
                  <a:tcPr marL="95250" marR="95250" marT="47625" marB="47625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5923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newAdaptiveShuffle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0.012700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2.564100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6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7.398798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8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32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newUniform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0.018190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6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2.590279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6.820470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793972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newShuffle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0.010805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8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0.507912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9.121986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18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11611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newSmartShuffle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0.020420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2.595369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7.559434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16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0496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newRandomFixedShuffle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0.021207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0.900248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8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9.051854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14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43703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newHeuristic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0.002920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17.839791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8.376122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13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385176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newShuffleSelective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0.040172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2.316563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7.927263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233795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one_point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0.032432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4.100491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7.732194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6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0992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uniform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0.034437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3.445652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7.910177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296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b="1">
                          <a:effectLst/>
                        </a:rPr>
                        <a:t>two_point</a:t>
                      </a:r>
                      <a:endParaRPr lang="en-US" sz="1600">
                        <a:effectLst/>
                      </a:endParaRP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0.029160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4.074262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9.776298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ru-RU" sz="1600" dirty="0">
                          <a:effectLst/>
                        </a:rPr>
                        <a:t>6</a:t>
                      </a:r>
                    </a:p>
                  </a:txBody>
                  <a:tcPr marL="95250" marR="95250" marT="47625" marB="47625" anchor="ctr"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3622396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20129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37AD7-3997-4520-913E-59CD0BF17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D316367-E6CC-463C-9BAB-EAFC850EAC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400"/>
            <a:ext cx="12192000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9024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716</Words>
  <Application>Microsoft Office PowerPoint</Application>
  <PresentationFormat>Широкоэкранный</PresentationFormat>
  <Paragraphs>244</Paragraphs>
  <Slides>19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Тема Office</vt:lpstr>
      <vt:lpstr>Новый алгоритм кроссинговера для генетического алгоритма и сравнение с стандартными алгоритмами кроссинговера</vt:lpstr>
      <vt:lpstr>Актуальность</vt:lpstr>
      <vt:lpstr>SphereProblem (сферическая функция)</vt:lpstr>
      <vt:lpstr>RastriginProblem (функция Растригина)</vt:lpstr>
      <vt:lpstr>Rosenbrock</vt:lpstr>
      <vt:lpstr>Презентация PowerPoint</vt:lpstr>
      <vt:lpstr>Параметры тестов</vt:lpstr>
      <vt:lpstr>Стандартные функции кроссинговера</vt:lpstr>
      <vt:lpstr>Презентация PowerPoint</vt:lpstr>
      <vt:lpstr>мягкий направленный оператор кроссинговера</vt:lpstr>
      <vt:lpstr>Частичный Shuffle Crossover с порогом различий</vt:lpstr>
      <vt:lpstr>Частичный Shuffle Crossover с рандомным определнием к категории FIXED или SHUFFLED</vt:lpstr>
      <vt:lpstr>Smart Shuffle Crossover</vt:lpstr>
      <vt:lpstr>Shuffle Crossover</vt:lpstr>
      <vt:lpstr>Adaptive Uniform Crossover</vt:lpstr>
      <vt:lpstr>Adaptive Shuffle Crossover</vt:lpstr>
      <vt:lpstr>Читерский кроссинговер</vt:lpstr>
      <vt:lpstr>Итоговая таблица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Новый алгоритм кроссинговера для генетического алгоритма и сравнение с стандартными алгоритмами кроссинговера</dc:title>
  <dc:creator>БингоТак БингоТак</dc:creator>
  <cp:lastModifiedBy>БингоТак БингоТак</cp:lastModifiedBy>
  <cp:revision>2</cp:revision>
  <dcterms:created xsi:type="dcterms:W3CDTF">2025-12-17T22:33:30Z</dcterms:created>
  <dcterms:modified xsi:type="dcterms:W3CDTF">2025-12-23T00:50:34Z</dcterms:modified>
</cp:coreProperties>
</file>