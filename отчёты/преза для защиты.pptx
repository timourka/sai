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0" r:id="rId6"/>
    <p:sldId id="259" r:id="rId7"/>
    <p:sldId id="257" r:id="rId8"/>
    <p:sldId id="258" r:id="rId9"/>
    <p:sldId id="265" r:id="rId10"/>
    <p:sldId id="264" r:id="rId11"/>
    <p:sldId id="266" r:id="rId12"/>
    <p:sldId id="267" r:id="rId13"/>
    <p:sldId id="268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БингоТак БингоТак" initials="ББ" lastIdx="1" clrIdx="0">
    <p:extLst>
      <p:ext uri="{19B8F6BF-5375-455C-9EA6-DF929625EA0E}">
        <p15:presenceInfo xmlns:p15="http://schemas.microsoft.com/office/powerpoint/2012/main" userId="ff91e5b505c5d7d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046CDB-7C7C-4B83-9958-EE650C9E5F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4E07C2-C608-4201-835E-DFCEA0402E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C6BD9E-1DE9-47E6-9FC7-B62F9857E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A694191-4728-43D5-A483-63B8528F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73E80E-00CC-486F-BFF7-64F69B067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4978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070878-F8E7-479E-B13B-F1E05CDF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FDC136C-22C1-4843-A3A5-FF44C992F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26214B-7141-414D-8280-0A60F7E97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06F54E-337A-4312-A4AC-E9C82AE39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D0F2DC-3492-43CA-953A-740B886C5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7108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6B3AC-0AE7-4BB0-B3E9-170DFB3E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8F5B7-40A2-49DD-9F8A-49E16072E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50BEC2-1C1A-4106-A385-33BE80657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8DAAD5-3BAE-457C-9FA0-20867FB49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D6CA86-63BC-48C6-B16A-3CCDCC582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950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F0D0C6-2567-454C-BB14-F58AF16AD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94D2F7-D027-4AE9-9FF3-273BF1D99D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ED61E18-16F1-4644-9338-82A04671E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589F076-1563-497C-8735-6B7001989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6B9668-BB76-4E7A-95DC-B39BE012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08EE24-61BB-4C94-8091-224C999E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5008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EB6F6C-2461-49E3-B885-3CEACFFD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4ACC6D-B9F5-40FA-A2C5-3F601853DD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B7EC6D1-3761-44AD-AF66-93990AA63F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804EC61-E398-48B3-8587-BE9A57AF4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D6AF9D7-CC43-47B1-A022-7DA53D657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F696758-A5E9-4EC4-9F68-D0AE13FF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F2C1558-5239-436F-90A3-F6AA0F456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9926AFF-C43A-41CE-B105-7BBF3EB4E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435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3B487-32D1-4DDD-8FA4-61B7A8763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173E9F0-6EBC-450B-9EC1-04A4D8144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2BABFD1-6B4B-451B-87BE-C147680E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47D0EEE-A161-43FF-9F97-B29B1CD0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1194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C6DC314-138C-4F24-87C9-790AEF33E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74BF0AF-3FE5-4F56-9F14-0B7D00D2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4CA5443-9170-401E-A322-1A3BE5163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376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DF16C9-C600-40B9-BA59-8029D44B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6F837E-D465-433F-8976-A30BDBDC3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7B24C16-CA52-4956-8580-AB76519F3C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373135B-D395-4A44-A454-D21AA4B1A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EB44D03-D958-4BF5-B935-6E1BFDB90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5C6DA1-FA89-4B25-A1DA-F42C315F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284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798BA9-0305-45D6-8CA7-3605D25E2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C3847A0-05EF-4560-82D6-3D905F3F57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32229A-DEAD-44F5-967A-3C65BE22E8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28EE0B9-6297-42FC-A8E3-269955DD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CBEC33-5595-40DF-A487-54F0B604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2D0A14-B9D9-4733-B0D5-CD56E4F6C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307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9A6E8E-6DA3-4C2A-90A2-5F4B1EC1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5653A80-9834-4B02-A79F-FCA6CA29E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C9DFE6-D8B1-40D8-8C2A-299FBE3C9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A23D31-FEFB-48C1-939C-6CB538FEF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EDD000-88F3-488D-89F6-C35DA518C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1818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D1F2AB8-6F9E-472A-B292-F069FE16E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3036B3B-00FB-4642-98BD-860E72D5F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3DA7F-5E27-4066-965D-43AB37FE9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C693EA-E490-4DA8-95D0-F55F77658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34DDB9-7315-481C-9D87-21C003CFB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6251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D624E1-53C6-48F8-9D1C-244A304C6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2167F6-A566-4CA1-A19D-05186A20B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891FB9-A74C-45C6-AD2F-084B1BBB5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617DF-F621-4E59-ABC7-09D18EF82DF1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D57AC5-B539-4ABA-AFF1-419C595A3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FF4961B-76AA-42F3-88A8-09E2EEA6F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A1D0F-B45C-4A88-A0C7-4660D63299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4219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D4CFD5-92D3-4C9C-BDAF-64BC4F5AE8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Новый алгоритм кроссинговера для генетического алгоритма и сравнение с стандартными алгоритмами кроссинговера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40E4F16-D213-4BC1-852D-C87645FCFD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33012" y="4410635"/>
            <a:ext cx="3173506" cy="1546412"/>
          </a:xfrm>
        </p:spPr>
        <p:txBody>
          <a:bodyPr/>
          <a:lstStyle/>
          <a:p>
            <a:pPr algn="r"/>
            <a:r>
              <a:rPr lang="ru-RU" dirty="0"/>
              <a:t>Кувшинов Тимур ПИбд-41</a:t>
            </a:r>
          </a:p>
        </p:txBody>
      </p:sp>
    </p:spTree>
    <p:extLst>
      <p:ext uri="{BB962C8B-B14F-4D97-AF65-F5344CB8AC3E}">
        <p14:creationId xmlns:p14="http://schemas.microsoft.com/office/powerpoint/2010/main" val="3909482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F7FF0C-94BC-4DB2-8BFD-6CAA8F971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SphereProblem</a:t>
            </a:r>
            <a:r>
              <a:rPr lang="en-US" dirty="0"/>
              <a:t> (</a:t>
            </a:r>
            <a:r>
              <a:rPr lang="ru-RU" dirty="0"/>
              <a:t>сферическая функция)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B6F1743-E03B-4C72-B6EE-0E2AAD0688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2317376" cy="129850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nn-NO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nn-NO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nn-NO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nn-NO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n-NO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nn-NO" i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nn-NO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nn-NO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nn-NO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nn-NO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nn-NO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B6F1743-E03B-4C72-B6EE-0E2AAD0688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2317376" cy="129850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8" name="Picture 4">
            <a:extLst>
              <a:ext uri="{FF2B5EF4-FFF2-40B4-BE49-F238E27FC236}">
                <a16:creationId xmlns:a16="http://schemas.microsoft.com/office/drawing/2014/main" id="{7487DEC5-60A7-48A1-A331-AF0834422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8984" y="2681755"/>
            <a:ext cx="5335567" cy="3811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3B75-9A98-4880-B9D5-C265878E1960}"/>
                  </a:ext>
                </a:extLst>
              </p:cNvPr>
              <p:cNvSpPr txBox="1"/>
              <p:nvPr/>
            </p:nvSpPr>
            <p:spPr>
              <a:xfrm>
                <a:off x="690282" y="3124131"/>
                <a:ext cx="6096000" cy="1492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непрерывная квадратичная функция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ru-RU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гладкая, выпуклая и унимодальная; она также аддитивно (</a:t>
                </a:r>
                <a:r>
                  <a:rPr lang="ru-RU" dirty="0" err="1"/>
                  <a:t>координатно</a:t>
                </a:r>
                <a:r>
                  <a:rPr lang="ru-RU" dirty="0"/>
                  <a:t>) сепарабельна, т.к. представляется суммой независимых вкладов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​. </a:t>
                </a:r>
                <a:r>
                  <a:rPr lang="ru-RU" dirty="0"/>
                  <a:t>Глобальный минимум достигается в точке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(0)=0</m:t>
                    </m:r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3B75-9A98-4880-B9D5-C265878E1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82" y="3124131"/>
                <a:ext cx="6096000" cy="1492332"/>
              </a:xfrm>
              <a:prstGeom prst="rect">
                <a:avLst/>
              </a:prstGeom>
              <a:blipFill>
                <a:blip r:embed="rId4"/>
                <a:stretch>
                  <a:fillRect l="-800" t="-2041" r="-1500"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353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3D3FAA-7908-4524-AC6C-EAE6E777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RastriginProblem</a:t>
            </a:r>
            <a:r>
              <a:rPr lang="en-US" dirty="0"/>
              <a:t> (</a:t>
            </a:r>
            <a:r>
              <a:rPr lang="ru-RU" dirty="0"/>
              <a:t>функция </a:t>
            </a:r>
            <a:r>
              <a:rPr lang="ru-RU" dirty="0" err="1"/>
              <a:t>Растригина</a:t>
            </a:r>
            <a:r>
              <a:rPr lang="ru-RU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8D1837E-38D2-4598-9D88-9A4CED718C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86600" cy="124926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ru-RU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ru-RU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func>
                                <m:func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ru-RU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8D1837E-38D2-4598-9D88-9A4CED718C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86600" cy="124926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C0E87B-550A-4AF7-ACE2-950DE1B5D97E}"/>
                  </a:ext>
                </a:extLst>
              </p:cNvPr>
              <p:cNvSpPr txBox="1"/>
              <p:nvPr/>
            </p:nvSpPr>
            <p:spPr>
              <a:xfrm>
                <a:off x="735106" y="3123834"/>
                <a:ext cx="5611906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Это невыпуклая, периодически “ребристая” (из-за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ru-RU" dirty="0"/>
                  <a:t>⁡) мультимодальная функция с большим числом локальных минимумов; Глобальный минимум находится в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(0)=0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C0E87B-550A-4AF7-ACE2-950DE1B5D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106" y="3123834"/>
                <a:ext cx="5611906" cy="1200329"/>
              </a:xfrm>
              <a:prstGeom prst="rect">
                <a:avLst/>
              </a:prstGeom>
              <a:blipFill>
                <a:blip r:embed="rId3"/>
                <a:stretch>
                  <a:fillRect l="-978" t="-2538" r="-1522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Минимизируйте функцию Растригина">
            <a:extLst>
              <a:ext uri="{FF2B5EF4-FFF2-40B4-BE49-F238E27FC236}">
                <a16:creationId xmlns:a16="http://schemas.microsoft.com/office/drawing/2014/main" id="{D56A73D4-3C5D-4B8B-8EFB-4FDB561F70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836" y="3074894"/>
            <a:ext cx="4446494" cy="3484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42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D8B29F-5FE1-44C6-BC43-8DB3B53D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Rosenbrock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46F3160-6631-4948-96BD-4977E2F9BB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56"/>
                <a:ext cx="6620435" cy="132556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sSup>
                                <m:sSup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ru-RU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46F3160-6631-4948-96BD-4977E2F9BB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56"/>
                <a:ext cx="6620435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4" name="Picture 4" descr="Rosenbrock — pagmo 2.19.1 documentation">
            <a:extLst>
              <a:ext uri="{FF2B5EF4-FFF2-40B4-BE49-F238E27FC236}">
                <a16:creationId xmlns:a16="http://schemas.microsoft.com/office/drawing/2014/main" id="{04321419-1BA0-4C92-9837-590B9FFC9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7503" y="3542134"/>
            <a:ext cx="3840255" cy="2880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14187-7035-4944-B05E-70F71733DDC6}"/>
                  </a:ext>
                </a:extLst>
              </p:cNvPr>
              <p:cNvSpPr txBox="1"/>
              <p:nvPr/>
            </p:nvSpPr>
            <p:spPr>
              <a:xfrm>
                <a:off x="764242" y="3083719"/>
                <a:ext cx="7005918" cy="15676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Это невыпуклая функция, известная как “долина/банан” </a:t>
                </a:r>
                <a:r>
                  <a:rPr lang="ru-RU" dirty="0" err="1"/>
                  <a:t>Розенброка</a:t>
                </a:r>
                <a:r>
                  <a:rPr lang="ru-RU" dirty="0"/>
                  <a:t>: глобальный минимум лежит внутри длинной узкой параболической долины; в многомерной форме переменные связаны между собой (</a:t>
                </a:r>
                <a:r>
                  <a:rPr lang="ru-RU" dirty="0" err="1"/>
                  <a:t>несепарабельна</a:t>
                </a:r>
                <a:r>
                  <a:rPr lang="ru-RU" dirty="0"/>
                  <a:t>) через члены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/>
                  <a:t>. Глобальный минимум достигается при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1,1,…,1</m:t>
                        </m:r>
                      </m:e>
                    </m:d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14187-7035-4944-B05E-70F71733D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42" y="3083719"/>
                <a:ext cx="7005918" cy="1567673"/>
              </a:xfrm>
              <a:prstGeom prst="rect">
                <a:avLst/>
              </a:prstGeom>
              <a:blipFill>
                <a:blip r:embed="rId4"/>
                <a:stretch>
                  <a:fillRect l="-696" t="-2335" r="-696" b="-54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9545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C3EA6C-5E4C-471A-9AA6-397E985E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DF5641-27F9-42E4-9542-3F35FAB74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074" name="Picture 2" descr="Пнг Стонкс 11 фото">
            <a:extLst>
              <a:ext uri="{FF2B5EF4-FFF2-40B4-BE49-F238E27FC236}">
                <a16:creationId xmlns:a16="http://schemas.microsoft.com/office/drawing/2014/main" id="{827BBB60-FB31-4EF1-AF57-343C98D88E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1593476" y="325570"/>
            <a:ext cx="9005047" cy="6206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11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3F44F7-1088-4212-9547-5434AB14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Параметры тестов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977E47-FD6B-41AA-8945-BD588541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Размер популяции: 100</a:t>
            </a:r>
          </a:p>
          <a:p>
            <a:pPr marL="0" indent="0">
              <a:buNone/>
            </a:pPr>
            <a:r>
              <a:rPr lang="ru-RU" dirty="0"/>
              <a:t>Вероятность скрещивания (кроссовера): 0,5</a:t>
            </a:r>
          </a:p>
          <a:p>
            <a:pPr marL="0" indent="0">
              <a:buNone/>
            </a:pPr>
            <a:r>
              <a:rPr lang="ru-RU" dirty="0"/>
              <a:t>Вероятность мутации: 0,1</a:t>
            </a:r>
          </a:p>
          <a:p>
            <a:pPr marL="0" indent="0">
              <a:buNone/>
            </a:pPr>
            <a:r>
              <a:rPr lang="ru-RU" dirty="0"/>
              <a:t>Максимальное число поколений: 100</a:t>
            </a:r>
          </a:p>
          <a:p>
            <a:pPr marL="0" indent="0">
              <a:buNone/>
            </a:pPr>
            <a:r>
              <a:rPr lang="ru-RU" dirty="0"/>
              <a:t>Зерно (начальное значение) генератора случайных чисел: 42</a:t>
            </a:r>
          </a:p>
          <a:p>
            <a:pPr marL="0" indent="0">
              <a:buNone/>
            </a:pPr>
            <a:r>
              <a:rPr lang="ru-RU" dirty="0"/>
              <a:t>Количество переменных в задачах: 10</a:t>
            </a:r>
          </a:p>
          <a:p>
            <a:pPr marL="0" indent="0">
              <a:buNone/>
            </a:pPr>
            <a:r>
              <a:rPr lang="ru-RU" dirty="0"/>
              <a:t>Алгоритм отбора: Турнирная селекция</a:t>
            </a:r>
          </a:p>
          <a:p>
            <a:pPr marL="0" indent="0">
              <a:buNone/>
            </a:pPr>
            <a:r>
              <a:rPr lang="ru-RU" dirty="0"/>
              <a:t>Алгоритм мутации: Простая гауссовская мутация</a:t>
            </a:r>
          </a:p>
          <a:p>
            <a:pPr marL="0" indent="0">
              <a:buNone/>
            </a:pPr>
            <a:r>
              <a:rPr lang="ru-RU" dirty="0"/>
              <a:t>Количество повтора эксперимента: 10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4548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E76DC83-75A2-425E-8300-835B88F10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726140"/>
            <a:ext cx="3419475" cy="599850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8924011-2657-44DB-8866-48BBBD3DE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397" y="726140"/>
            <a:ext cx="4303042" cy="325614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AA116ED-864D-488F-891C-6233B2576A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" y="726140"/>
            <a:ext cx="4492843" cy="3065931"/>
          </a:xfrm>
          <a:prstGeom prst="rect">
            <a:avLst/>
          </a:prstGeom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2413FA13-92AC-4781-AA4D-E8AAD62E1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356" y="1"/>
            <a:ext cx="10356103" cy="726140"/>
          </a:xfrm>
        </p:spPr>
        <p:txBody>
          <a:bodyPr>
            <a:normAutofit/>
          </a:bodyPr>
          <a:lstStyle/>
          <a:p>
            <a:r>
              <a:rPr lang="ru-RU" sz="4000" dirty="0"/>
              <a:t>Стандартные функции кроссинговера</a:t>
            </a:r>
          </a:p>
        </p:txBody>
      </p:sp>
    </p:spTree>
    <p:extLst>
      <p:ext uri="{BB962C8B-B14F-4D97-AF65-F5344CB8AC3E}">
        <p14:creationId xmlns:p14="http://schemas.microsoft.com/office/powerpoint/2010/main" val="72470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B270B780-71CC-47CF-B5BA-80D4EE0E6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41869"/>
              </p:ext>
            </p:extLst>
          </p:nvPr>
        </p:nvGraphicFramePr>
        <p:xfrm>
          <a:off x="573742" y="1232656"/>
          <a:ext cx="10515600" cy="17526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95433474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38546365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05348330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85035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pts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pts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Rosen pts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l-GR" dirty="0">
                          <a:effectLst/>
                        </a:rPr>
                        <a:t>Σ </a:t>
                      </a:r>
                      <a:r>
                        <a:rPr lang="en-US" dirty="0">
                          <a:effectLst/>
                        </a:rPr>
                        <a:t>pts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one_point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0.032432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4.100491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7.732194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uniform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0.034437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3.445652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7.910177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558296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two_point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0.029160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4.074262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9.776298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3622396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6D02751-D627-451E-842E-17668D4E7FD3}"/>
              </a:ext>
            </a:extLst>
          </p:cNvPr>
          <p:cNvSpPr txBox="1"/>
          <p:nvPr/>
        </p:nvSpPr>
        <p:spPr>
          <a:xfrm>
            <a:off x="573742" y="295835"/>
            <a:ext cx="88688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/>
              <a:t>Результаты стандартных </a:t>
            </a:r>
            <a:r>
              <a:rPr lang="ru-RU" sz="4000" dirty="0" err="1"/>
              <a:t>кросинговеров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676255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74C33-F58F-4AAC-835C-32544729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315635" cy="1862613"/>
          </a:xfrm>
        </p:spPr>
        <p:txBody>
          <a:bodyPr>
            <a:normAutofit/>
          </a:bodyPr>
          <a:lstStyle/>
          <a:p>
            <a:r>
              <a:rPr lang="ru-RU" sz="4000" dirty="0"/>
              <a:t>мягкий направленный оператор кроссинговера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C7B91344-6ECC-43B1-A126-76055D58A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032086"/>
              </p:ext>
            </p:extLst>
          </p:nvPr>
        </p:nvGraphicFramePr>
        <p:xfrm>
          <a:off x="842682" y="2227738"/>
          <a:ext cx="5257800" cy="128778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newHeuristic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0.002920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17.839791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8.376122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C7CC31-B021-4EFE-A8FA-1A510B4FB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1592" y="156652"/>
            <a:ext cx="2665725" cy="654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923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2A122B3-DD99-4C8D-9C4C-330FFE7E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190129" cy="1869185"/>
          </a:xfrm>
        </p:spPr>
        <p:txBody>
          <a:bodyPr>
            <a:noAutofit/>
          </a:bodyPr>
          <a:lstStyle/>
          <a:p>
            <a:r>
              <a:rPr lang="ru-RU" sz="4000" dirty="0"/>
              <a:t>Частичный </a:t>
            </a:r>
            <a:r>
              <a:rPr lang="ru-RU" sz="4000" dirty="0" err="1"/>
              <a:t>Shuffle</a:t>
            </a:r>
            <a:r>
              <a:rPr lang="ru-RU" sz="4000" dirty="0"/>
              <a:t> </a:t>
            </a:r>
            <a:r>
              <a:rPr lang="ru-RU" sz="4000" dirty="0" err="1"/>
              <a:t>Crossover</a:t>
            </a:r>
            <a:r>
              <a:rPr lang="ru-RU" sz="4000" dirty="0"/>
              <a:t> с порогом различий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9085D4F-3C97-4F61-BE3F-9A8A37970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688218"/>
              </p:ext>
            </p:extLst>
          </p:nvPr>
        </p:nvGraphicFramePr>
        <p:xfrm>
          <a:off x="838200" y="2234311"/>
          <a:ext cx="5257800" cy="128778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newShuffleSelective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0.040172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2.316563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7.927263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CE7BF70-0C44-4B49-BCBF-D7267BCB9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011" y="337165"/>
            <a:ext cx="3803423" cy="618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845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5771637-98BC-48F7-91D0-F1C152132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823873"/>
              </p:ext>
            </p:extLst>
          </p:nvPr>
        </p:nvGraphicFramePr>
        <p:xfrm>
          <a:off x="842682" y="2227738"/>
          <a:ext cx="5257800" cy="15621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newRandomFixedShuffle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0.021207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0.900248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9.051854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70C3C8-9876-46FF-90D4-A39C7C2A7F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399"/>
          <a:stretch/>
        </p:blipFill>
        <p:spPr>
          <a:xfrm>
            <a:off x="6340176" y="0"/>
            <a:ext cx="3619612" cy="593906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571B00B-C43C-44E1-B907-A2A887994E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9" t="56601" r="11158"/>
          <a:stretch/>
        </p:blipFill>
        <p:spPr>
          <a:xfrm>
            <a:off x="9439835" y="2359889"/>
            <a:ext cx="2713715" cy="446673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6FCBEC-2EEF-4DD8-A9D9-1CA2E515B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163236" cy="1714687"/>
          </a:xfrm>
        </p:spPr>
        <p:txBody>
          <a:bodyPr>
            <a:normAutofit/>
          </a:bodyPr>
          <a:lstStyle/>
          <a:p>
            <a:r>
              <a:rPr lang="ru-RU" sz="3600" dirty="0"/>
              <a:t>Частичный </a:t>
            </a:r>
            <a:r>
              <a:rPr lang="ru-RU" sz="3600" dirty="0" err="1"/>
              <a:t>Shuffle</a:t>
            </a:r>
            <a:r>
              <a:rPr lang="ru-RU" sz="3600" dirty="0"/>
              <a:t> </a:t>
            </a:r>
            <a:r>
              <a:rPr lang="ru-RU" sz="3600" dirty="0" err="1"/>
              <a:t>Crossover</a:t>
            </a:r>
            <a:r>
              <a:rPr lang="ru-RU" sz="3600" dirty="0"/>
              <a:t> с </a:t>
            </a:r>
            <a:r>
              <a:rPr lang="ru-RU" sz="3600" dirty="0" err="1"/>
              <a:t>рандомным</a:t>
            </a:r>
            <a:r>
              <a:rPr lang="ru-RU" sz="3600" dirty="0"/>
              <a:t> </a:t>
            </a:r>
            <a:r>
              <a:rPr lang="ru-RU" sz="3600" dirty="0" err="1"/>
              <a:t>определнием</a:t>
            </a:r>
            <a:r>
              <a:rPr lang="ru-RU" sz="3600" dirty="0"/>
              <a:t> к категории FIXED или SHUFFLED</a:t>
            </a:r>
          </a:p>
        </p:txBody>
      </p:sp>
    </p:spTree>
    <p:extLst>
      <p:ext uri="{BB962C8B-B14F-4D97-AF65-F5344CB8AC3E}">
        <p14:creationId xmlns:p14="http://schemas.microsoft.com/office/powerpoint/2010/main" val="3713945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6FD3A6-3ACB-454F-B1FC-3A2870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52247" cy="620993"/>
          </a:xfrm>
        </p:spPr>
        <p:txBody>
          <a:bodyPr>
            <a:normAutofit fontScale="90000"/>
          </a:bodyPr>
          <a:lstStyle/>
          <a:p>
            <a:r>
              <a:rPr lang="en-US"/>
              <a:t>Smart Shuffle Crossover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C4180D22-D3C5-49F7-9A33-DAF8C7C3D8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392459"/>
              </p:ext>
            </p:extLst>
          </p:nvPr>
        </p:nvGraphicFramePr>
        <p:xfrm>
          <a:off x="842682" y="2227738"/>
          <a:ext cx="5257800" cy="128778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newSmartShuffle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0.020420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2.595369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7.559434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54B88D7-EB1D-4F34-91F0-6432FE9247EA}"/>
              </a:ext>
            </a:extLst>
          </p:cNvPr>
          <p:cNvSpPr txBox="1"/>
          <p:nvPr/>
        </p:nvSpPr>
        <p:spPr>
          <a:xfrm>
            <a:off x="838200" y="1145263"/>
            <a:ext cx="60556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сохраняет гены, близкие между родителями (структура)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шифлит</a:t>
            </a:r>
            <a:r>
              <a:rPr lang="ru-RU" dirty="0"/>
              <a:t> только сильно различающиеся гены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bias</a:t>
            </a:r>
            <a:r>
              <a:rPr lang="ru-RU" dirty="0"/>
              <a:t> в сторону лучшего родителя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AD2F35C-1ED8-44B0-9C7A-2EF8B39FFD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547" y="0"/>
            <a:ext cx="44330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751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69C754-90E8-4851-BAB3-BFFA4BC78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788513"/>
          </a:xfrm>
        </p:spPr>
        <p:txBody>
          <a:bodyPr/>
          <a:lstStyle/>
          <a:p>
            <a:r>
              <a:rPr lang="en-US" dirty="0"/>
              <a:t>Shuffle Crossover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19AAE0A5-CC62-45EC-A78C-1FC13C59A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50648"/>
              </p:ext>
            </p:extLst>
          </p:nvPr>
        </p:nvGraphicFramePr>
        <p:xfrm>
          <a:off x="842682" y="2227738"/>
          <a:ext cx="5257800" cy="101346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newShuffle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0.010805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0.507912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9.121986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A84FF-C370-46C3-A3D7-696C99E0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1129" y="807934"/>
            <a:ext cx="5040967" cy="52421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98BB89-74E0-4385-BBB5-DAE96C376EB3}"/>
              </a:ext>
            </a:extLst>
          </p:cNvPr>
          <p:cNvSpPr txBox="1"/>
          <p:nvPr/>
        </p:nvSpPr>
        <p:spPr>
          <a:xfrm>
            <a:off x="838200" y="113889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объединяет гены обоих родителей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случайно перемешивает их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делит поровну на двух потомков</a:t>
            </a:r>
          </a:p>
        </p:txBody>
      </p:sp>
    </p:spTree>
    <p:extLst>
      <p:ext uri="{BB962C8B-B14F-4D97-AF65-F5344CB8AC3E}">
        <p14:creationId xmlns:p14="http://schemas.microsoft.com/office/powerpoint/2010/main" val="1804241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164F20-5318-4F59-B4C4-BFB29D5ED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557682" cy="486522"/>
          </a:xfrm>
        </p:spPr>
        <p:txBody>
          <a:bodyPr>
            <a:normAutofit fontScale="90000"/>
          </a:bodyPr>
          <a:lstStyle/>
          <a:p>
            <a:r>
              <a:rPr lang="en-US" dirty="0"/>
              <a:t>Adaptive Uniform Crossover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713F4525-2B57-43D7-956E-83CD26193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454446"/>
              </p:ext>
            </p:extLst>
          </p:nvPr>
        </p:nvGraphicFramePr>
        <p:xfrm>
          <a:off x="842682" y="2227738"/>
          <a:ext cx="5257800" cy="128778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newUniform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0.018190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2.590279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6.820470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C2C0C1E-9B06-4601-94A1-87E7E4E6FFFB}"/>
              </a:ext>
            </a:extLst>
          </p:cNvPr>
          <p:cNvSpPr txBox="1"/>
          <p:nvPr/>
        </p:nvSpPr>
        <p:spPr>
          <a:xfrm>
            <a:off x="838200" y="107802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Каждый ген выбирается как у </a:t>
            </a:r>
            <a:r>
              <a:rPr lang="ru-RU" dirty="0" err="1"/>
              <a:t>Uniform</a:t>
            </a:r>
            <a:r>
              <a:rPr lang="ru-RU" dirty="0"/>
              <a:t> </a:t>
            </a:r>
            <a:r>
              <a:rPr lang="ru-RU" dirty="0" err="1"/>
              <a:t>crossover</a:t>
            </a:r>
            <a:r>
              <a:rPr lang="ru-RU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Но: если один из родителей лучше, то вероятность взять его ген чуть выше.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31E796B-2E54-46DF-813C-93787697B4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3567" y="0"/>
            <a:ext cx="33629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275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EAEBDF-3A3A-4840-ADBF-B422C92B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225988" cy="513416"/>
          </a:xfrm>
        </p:spPr>
        <p:txBody>
          <a:bodyPr>
            <a:normAutofit fontScale="90000"/>
          </a:bodyPr>
          <a:lstStyle/>
          <a:p>
            <a:r>
              <a:rPr lang="en-US" dirty="0"/>
              <a:t>Adaptive Shuffle Crossover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CDE51D3B-5965-49D8-871D-BFBA379129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452663"/>
              </p:ext>
            </p:extLst>
          </p:nvPr>
        </p:nvGraphicFramePr>
        <p:xfrm>
          <a:off x="842682" y="2227738"/>
          <a:ext cx="5257800" cy="128778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newAdaptiveShuffle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>
                          <a:effectLst/>
                        </a:rPr>
                        <a:t>0.012700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2.564100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effectLst/>
                        </a:rPr>
                        <a:t>7.398798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C9E9E00-9E97-4D27-B2CC-315FFEF04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4188" y="0"/>
            <a:ext cx="3768345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588AE4-6BDB-4010-90F9-27846473D449}"/>
              </a:ext>
            </a:extLst>
          </p:cNvPr>
          <p:cNvSpPr txBox="1"/>
          <p:nvPr/>
        </p:nvSpPr>
        <p:spPr>
          <a:xfrm>
            <a:off x="838200" y="932331"/>
            <a:ext cx="62259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если родители похожи -&gt; мягкое смешивание (</a:t>
            </a:r>
            <a:r>
              <a:rPr lang="ru-RU" dirty="0" err="1"/>
              <a:t>uniform</a:t>
            </a:r>
            <a:r>
              <a:rPr lang="ru-RU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если сильно различаются -&gt; частичное случайное перемешивание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50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C2773F-0DEA-49F5-BDFE-14FD02919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768788" cy="638922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Читерский</a:t>
            </a:r>
            <a:r>
              <a:rPr lang="ru-RU" dirty="0"/>
              <a:t> кроссинговер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C448C1B-BFB7-4561-87F9-20B48708BA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805095"/>
              </p:ext>
            </p:extLst>
          </p:nvPr>
        </p:nvGraphicFramePr>
        <p:xfrm>
          <a:off x="838200" y="3319926"/>
          <a:ext cx="5257800" cy="15621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Rastrigin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err="1">
                          <a:effectLst/>
                        </a:rPr>
                        <a:t>Rosenbrock</a:t>
                      </a:r>
                      <a:r>
                        <a:rPr lang="en-US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</a:rPr>
                        <a:t>newGoodGenePreservingShuffle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effectLst/>
                        </a:rPr>
                        <a:t>0.002461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effectLst/>
                        </a:rPr>
                        <a:t>0.414954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effectLst/>
                        </a:rPr>
                        <a:t>5.747912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AA049EF-B3ED-4ED2-B678-BEB9BCC72080}"/>
              </a:ext>
            </a:extLst>
          </p:cNvPr>
          <p:cNvSpPr txBox="1"/>
          <p:nvPr/>
        </p:nvSpPr>
        <p:spPr>
          <a:xfrm>
            <a:off x="838200" y="1004048"/>
            <a:ext cx="6096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Находим гены, которые заметно различаются (</a:t>
            </a:r>
            <a:r>
              <a:rPr lang="ru-RU" sz="1600" dirty="0" err="1"/>
              <a:t>diff_threshold</a:t>
            </a:r>
            <a:r>
              <a:rPr lang="ru-RU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Для каждого гена: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/>
              <a:t>временно заменяем на значение худшего родителя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/>
              <a:t>вычисляем </a:t>
            </a:r>
            <a:r>
              <a:rPr lang="ru-RU" sz="1600" dirty="0" err="1"/>
              <a:t>fitness</a:t>
            </a:r>
            <a:endParaRPr lang="ru-RU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/>
              <a:t>если </a:t>
            </a:r>
            <a:r>
              <a:rPr lang="ru-RU" sz="1600" dirty="0" err="1"/>
              <a:t>fitness</a:t>
            </a:r>
            <a:r>
              <a:rPr lang="ru-RU" sz="1600" dirty="0"/>
              <a:t> ухудшается -&gt; ген важный (сохраняем)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/>
              <a:t>иначе -&gt; ген в </a:t>
            </a:r>
            <a:r>
              <a:rPr lang="ru-RU" sz="1600" dirty="0" err="1"/>
              <a:t>shuffle</a:t>
            </a:r>
            <a:r>
              <a:rPr lang="ru-RU" sz="1600" dirty="0"/>
              <a:t>-пул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Важные гены копируются от лучшего родителя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Остальные различающиеся гены </a:t>
            </a:r>
            <a:r>
              <a:rPr lang="ru-RU" sz="1600" dirty="0" err="1"/>
              <a:t>шафлим</a:t>
            </a:r>
            <a:endParaRPr lang="ru-RU" sz="16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60E4577-0EAF-45C6-AFD0-CD4730CC51E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412"/>
          <a:stretch/>
        </p:blipFill>
        <p:spPr>
          <a:xfrm>
            <a:off x="6785036" y="1"/>
            <a:ext cx="3497482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EBD211A-D84F-4B2F-B083-D53C7951EC1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56" t="61307" r="12219"/>
          <a:stretch/>
        </p:blipFill>
        <p:spPr>
          <a:xfrm>
            <a:off x="9828592" y="3164542"/>
            <a:ext cx="2178386" cy="3610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781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777CF4-80D4-4722-B149-76BE6292A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9957"/>
          </a:xfrm>
        </p:spPr>
        <p:txBody>
          <a:bodyPr>
            <a:normAutofit fontScale="90000"/>
          </a:bodyPr>
          <a:lstStyle/>
          <a:p>
            <a:r>
              <a:rPr lang="ru-RU" dirty="0"/>
              <a:t>Итоговая таблица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35FEC16F-E71B-4DAE-B215-EC3DC69E43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730941"/>
              </p:ext>
            </p:extLst>
          </p:nvPr>
        </p:nvGraphicFramePr>
        <p:xfrm>
          <a:off x="838200" y="995082"/>
          <a:ext cx="10515600" cy="577596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03526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0455521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95433474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3676753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38546365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88064779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05348330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285035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Оператор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effectLst/>
                        </a:rPr>
                        <a:t>Sphere mean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effectLst/>
                        </a:rPr>
                        <a:t>Sphere pts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 err="1">
                          <a:effectLst/>
                        </a:rPr>
                        <a:t>Rastrigin</a:t>
                      </a:r>
                      <a:r>
                        <a:rPr lang="en-US" sz="1600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 err="1">
                          <a:effectLst/>
                        </a:rPr>
                        <a:t>Rastrigin</a:t>
                      </a:r>
                      <a:r>
                        <a:rPr lang="en-US" sz="1600" dirty="0">
                          <a:effectLst/>
                        </a:rPr>
                        <a:t> pts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 err="1">
                          <a:effectLst/>
                        </a:rPr>
                        <a:t>Rosenbrock</a:t>
                      </a:r>
                      <a:r>
                        <a:rPr lang="en-US" sz="1600" dirty="0">
                          <a:effectLst/>
                        </a:rPr>
                        <a:t> mean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effectLst/>
                        </a:rPr>
                        <a:t>Rosen pts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l-GR" sz="1600" dirty="0">
                          <a:effectLst/>
                        </a:rPr>
                        <a:t>Σ </a:t>
                      </a:r>
                      <a:r>
                        <a:rPr lang="en-US" sz="1600" dirty="0">
                          <a:effectLst/>
                        </a:rPr>
                        <a:t>pts</a:t>
                      </a:r>
                    </a:p>
                  </a:txBody>
                  <a:tcPr marL="95250" marR="95250" marT="47625" marB="47625"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725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effectLst/>
                        </a:rPr>
                        <a:t>newGoodGenePreservingShuffle</a:t>
                      </a:r>
                      <a:endParaRPr lang="en-US" sz="1600" dirty="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0.002461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10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0.414954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10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5.747912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10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b="1">
                          <a:effectLst/>
                        </a:rPr>
                        <a:t>30</a:t>
                      </a:r>
                      <a:endParaRPr lang="ru-RU" sz="1600">
                        <a:effectLst/>
                      </a:endParaRPr>
                    </a:p>
                  </a:txBody>
                  <a:tcPr marL="95250" marR="95250" marT="47625" marB="47625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3592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newAdaptiveShuffle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0.012700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2.564100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7.398798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32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newUniform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0.018190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2.590279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6.820470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939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newShuffle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0.010805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0.507912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9.121986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1161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newSmartShuffle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0.020420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2.595369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7.559434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0496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newRandomFixedShuffle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0.021207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0.900248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9.051854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4370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newHeuristic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0.002920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17.839791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8.376122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517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newShuffleSelective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0.040172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2.316563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7.927263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2337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one_point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0.032432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4.100491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7.732194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09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uniform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0.034437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3.445652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7.910177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9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8296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>
                          <a:effectLst/>
                        </a:rPr>
                        <a:t>two_point</a:t>
                      </a:r>
                      <a:endParaRPr lang="en-US" sz="1600">
                        <a:effectLst/>
                      </a:endParaRP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0.029160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4.074262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9.776298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600" dirty="0">
                          <a:effectLst/>
                        </a:rPr>
                        <a:t>6</a:t>
                      </a:r>
                    </a:p>
                  </a:txBody>
                  <a:tcPr marL="95250" marR="95250" marT="47625" marB="47625"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622396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01293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627</Words>
  <Application>Microsoft Office PowerPoint</Application>
  <PresentationFormat>Широкоэкранный</PresentationFormat>
  <Paragraphs>242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Тема Office</vt:lpstr>
      <vt:lpstr>Новый алгоритм кроссинговера для генетического алгоритма и сравнение с стандартными алгоритмами кроссинговера</vt:lpstr>
      <vt:lpstr>SphereProblem (сферическая функция)</vt:lpstr>
      <vt:lpstr>RastriginProblem (функция Растригина)</vt:lpstr>
      <vt:lpstr>Rosenbrock</vt:lpstr>
      <vt:lpstr>Презентация PowerPoint</vt:lpstr>
      <vt:lpstr>Параметры тестов</vt:lpstr>
      <vt:lpstr>Стандартные функции кроссинговера</vt:lpstr>
      <vt:lpstr>Презентация PowerPoint</vt:lpstr>
      <vt:lpstr>мягкий направленный оператор кроссинговера</vt:lpstr>
      <vt:lpstr>Частичный Shuffle Crossover с порогом различий</vt:lpstr>
      <vt:lpstr>Частичный Shuffle Crossover с рандомным определнием к категории FIXED или SHUFFLED</vt:lpstr>
      <vt:lpstr>Smart Shuffle Crossover</vt:lpstr>
      <vt:lpstr>Shuffle Crossover</vt:lpstr>
      <vt:lpstr>Adaptive Uniform Crossover</vt:lpstr>
      <vt:lpstr>Adaptive Shuffle Crossover</vt:lpstr>
      <vt:lpstr>Читерский кроссинговер</vt:lpstr>
      <vt:lpstr>Итоговая таблица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Новый алгоритм кроссинговера для генетического алгоритма и сравнение с стандартными алгоритмами кроссинговера</dc:title>
  <dc:creator>БингоТак БингоТак</dc:creator>
  <cp:lastModifiedBy>БингоТак БингоТак</cp:lastModifiedBy>
  <cp:revision>1</cp:revision>
  <dcterms:created xsi:type="dcterms:W3CDTF">2025-12-17T22:33:30Z</dcterms:created>
  <dcterms:modified xsi:type="dcterms:W3CDTF">2025-12-18T00:58:34Z</dcterms:modified>
</cp:coreProperties>
</file>